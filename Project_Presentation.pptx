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4"/>
    <p:sldMasterId id="2147483739" r:id="rId5"/>
  </p:sldMasterIdLst>
  <p:notesMasterIdLst>
    <p:notesMasterId r:id="rId14"/>
  </p:notesMasterIdLst>
  <p:sldIdLst>
    <p:sldId id="617" r:id="rId6"/>
    <p:sldId id="611" r:id="rId7"/>
    <p:sldId id="618" r:id="rId8"/>
    <p:sldId id="619" r:id="rId9"/>
    <p:sldId id="620" r:id="rId10"/>
    <p:sldId id="621" r:id="rId11"/>
    <p:sldId id="622" r:id="rId12"/>
    <p:sldId id="4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6D61A1-7092-DE3E-6382-9BD7ECFC3E13}" name="Cody Moxam" initials="CM" userId="S::CodyMoxam@StateSyncneuro.onmicrosoft.com::b83de110-79a8-4001-bba8-285725ae85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00"/>
    <a:srgbClr val="009900"/>
    <a:srgbClr val="000000"/>
    <a:srgbClr val="00A44A"/>
    <a:srgbClr val="CCECFF"/>
    <a:srgbClr val="00FFFF"/>
    <a:srgbClr val="FF00FF"/>
    <a:srgbClr val="FFFF00"/>
    <a:srgbClr val="B2D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4"/>
    <p:restoredTop sz="94719"/>
  </p:normalViewPr>
  <p:slideViewPr>
    <p:cSldViewPr snapToGrid="0">
      <p:cViewPr varScale="1">
        <p:scale>
          <a:sx n="152" d="100"/>
          <a:sy n="152" d="100"/>
        </p:scale>
        <p:origin x="10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9A375-B218-184B-B243-CB7E0F1616A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5F0F0-3408-9F4A-9B24-898CD7F5D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0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D5F0F0-3408-9F4A-9B24-898CD7F5D4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27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65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3AE6764-091D-4B77-8756-B5D91EEABF5A}" type="datetime3">
              <a:rPr lang="en-US" smtClean="0"/>
              <a:t>28 April 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4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2E2D5CE-0F96-472A-9978-FE830B70B0C0}" type="datetime3">
              <a:rPr lang="en-US" smtClean="0"/>
              <a:t>28 April 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54102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54102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858001" y="566530"/>
            <a:ext cx="5334000" cy="5734880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  <p:sp>
        <p:nvSpPr>
          <p:cNvPr id="1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E0F3FA-8CD8-43D9-A075-B2FCCA17907D}" type="datetime3">
              <a:rPr lang="en-US" smtClean="0"/>
              <a:t>28 April 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54102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54102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858001" y="570368"/>
            <a:ext cx="5334000" cy="5721790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  <p:sp>
        <p:nvSpPr>
          <p:cNvPr id="9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BF0E5F8-7748-4ACC-8C37-B57E090ABD2F}" type="datetime3">
              <a:rPr lang="en-US" smtClean="0"/>
              <a:t>28 April 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22" name="Rectangle 21"/>
          <p:cNvSpPr/>
          <p:nvPr userDrawn="1"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440288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75" y="3411128"/>
            <a:ext cx="3030109" cy="1982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C5172D4-EDD0-482A-9D59-5376F3068746}" type="datetime3">
              <a:rPr lang="en-US" smtClean="0"/>
              <a:t>28 April 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44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75" y="3411128"/>
            <a:ext cx="3030108" cy="19821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CED436F-B354-4514-8219-71B6E1462638}" type="datetime3">
              <a:rPr lang="en-US" smtClean="0"/>
              <a:t>28 April 2026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-2370" y="0"/>
            <a:ext cx="4063997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4061628" y="0"/>
            <a:ext cx="4063996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125625" y="0"/>
            <a:ext cx="4066376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75" y="3411128"/>
            <a:ext cx="3030109" cy="1982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1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39929EE-879A-4574-B146-9BED48A4C5B4}" type="datetime3">
              <a:rPr lang="en-US" smtClean="0"/>
              <a:t>28 April 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063999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4064000" y="0"/>
            <a:ext cx="4061625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125625" y="0"/>
            <a:ext cx="4066375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75" y="3411128"/>
            <a:ext cx="3030108" cy="19821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E7C0A-B003-47BB-897B-0979338FF81B}" type="datetime3">
              <a:rPr lang="en-US" smtClean="0"/>
              <a:t>28 April 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361627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2245"/>
          </a:xfrm>
        </p:spPr>
        <p:txBody>
          <a:bodyPr anchor="t"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(recommended for titles that </a:t>
            </a:r>
            <a:br>
              <a:rPr lang="en-US"/>
            </a:br>
            <a:r>
              <a:rPr lang="en-US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effectLst/>
                <a:latin typeface="Helvetica" charset="0"/>
              </a:rPr>
              <a:t>Click to add classification text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0"/>
            <a:ext cx="6819900" cy="342899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0102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69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6124C0E-DA41-468A-ABB3-2DB9ABAF6F00}" type="datetime3">
              <a:rPr lang="en-US" smtClean="0"/>
              <a:t>28 April 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5900"/>
          </a:xfrm>
        </p:spPr>
        <p:txBody>
          <a:bodyPr anchor="t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  <a:br>
              <a:rPr lang="en-US"/>
            </a:br>
            <a:r>
              <a:rPr lang="en-US"/>
              <a:t>(recommended for titles that </a:t>
            </a:r>
            <a:br>
              <a:rPr lang="en-US"/>
            </a:br>
            <a:r>
              <a:rPr lang="en-US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lang="en-US" sz="1000" smtClean="0">
                <a:solidFill>
                  <a:schemeClr val="accent1"/>
                </a:solidFill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effectLst/>
                <a:latin typeface="Helvetica" charset="0"/>
              </a:rPr>
              <a:t>Click to add classification text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1"/>
            <a:ext cx="6819900" cy="35495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9555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Contact information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25" pos="69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952500" y="1179514"/>
            <a:ext cx="10287000" cy="5030786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28 April 2026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2735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10287000" cy="472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95015"/>
            <a:ext cx="11277600" cy="386085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/>
              <a:t>Click to add subtitle</a:t>
            </a:r>
            <a:endParaRPr lang="en-US" sz="1600" b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EA4699-75BE-494C-BD9A-E994FCCCDC34}" type="datetime3">
              <a:rPr lang="en-US" smtClean="0"/>
              <a:t>28 April 2026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181100"/>
            <a:ext cx="4953000" cy="4176257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181100"/>
            <a:ext cx="4952998" cy="4176257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80F1980-BB30-462A-8444-E0A13D5FE3AD}" type="datetime3">
              <a:rPr lang="en-US" smtClean="0"/>
              <a:t>28 April 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4953000" cy="3871457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485900"/>
            <a:ext cx="4952998" cy="3871457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/>
              <a:t>Click to add subtitle</a:t>
            </a:r>
            <a:endParaRPr lang="en-US" sz="1600" b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AF91DCA-BF81-465E-9F1A-7A79772C474D}" type="datetime3">
              <a:rPr lang="en-US" smtClean="0"/>
              <a:t>28 April 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 hasCustomPrompt="1"/>
          </p:nvPr>
        </p:nvSpPr>
        <p:spPr>
          <a:xfrm>
            <a:off x="952500" y="1181100"/>
            <a:ext cx="4953000" cy="41767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5" name="Chart Placeholder 8"/>
          <p:cNvSpPr>
            <a:spLocks noGrp="1"/>
          </p:cNvSpPr>
          <p:nvPr>
            <p:ph type="chart" sz="quarter" idx="17" hasCustomPrompt="1"/>
          </p:nvPr>
        </p:nvSpPr>
        <p:spPr>
          <a:xfrm>
            <a:off x="6286501" y="1181100"/>
            <a:ext cx="4953000" cy="41767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602236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chart label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936237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chart label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8C59A10-D951-4511-B360-AF4768E60CC8}" type="datetime3">
              <a:rPr lang="en-US" smtClean="0"/>
              <a:t>28 April 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ompariso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/>
          <p:cNvSpPr>
            <a:spLocks noGrp="1"/>
          </p:cNvSpPr>
          <p:nvPr>
            <p:ph type="chart" sz="quarter" idx="16" hasCustomPrompt="1"/>
          </p:nvPr>
        </p:nvSpPr>
        <p:spPr>
          <a:xfrm>
            <a:off x="952500" y="1485900"/>
            <a:ext cx="4953000" cy="38719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5" name="Chart Placeholder 8"/>
          <p:cNvSpPr>
            <a:spLocks noGrp="1"/>
          </p:cNvSpPr>
          <p:nvPr>
            <p:ph type="chart" sz="quarter" idx="17" hasCustomPrompt="1"/>
          </p:nvPr>
        </p:nvSpPr>
        <p:spPr>
          <a:xfrm>
            <a:off x="6286501" y="1485900"/>
            <a:ext cx="4953000" cy="38719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602236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chart label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936237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chart label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/>
              <a:t>Click to add subtitle</a:t>
            </a:r>
            <a:endParaRPr lang="en-US" sz="1600" b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16586A-7AB4-4A0F-AFE9-2AAF56529E8A}" type="datetime3">
              <a:rPr lang="en-US" smtClean="0"/>
              <a:t>28 April 2026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3924301"/>
            <a:ext cx="2988364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619500"/>
            <a:ext cx="2988405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06154" y="3924301"/>
            <a:ext cx="2979692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4606109" y="3619500"/>
            <a:ext cx="297973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8256050" y="3924301"/>
            <a:ext cx="2983450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8257327" y="3619500"/>
            <a:ext cx="298217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77927" y="1181100"/>
            <a:ext cx="0" cy="4000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920948" y="1181100"/>
            <a:ext cx="0" cy="4000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1100"/>
            <a:ext cx="298840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4606105" y="1181100"/>
            <a:ext cx="297973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8257323" y="1181100"/>
            <a:ext cx="298217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645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callout text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684D9DB-6B4E-4EE6-AB27-6327E77927F7}" type="datetime3">
              <a:rPr lang="en-US" smtClean="0"/>
              <a:t>28 April 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Featur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4229101"/>
            <a:ext cx="2988364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924300"/>
            <a:ext cx="2988405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06154" y="4229101"/>
            <a:ext cx="2979692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4606109" y="3924300"/>
            <a:ext cx="297973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8256050" y="4229101"/>
            <a:ext cx="2983450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8257327" y="3924300"/>
            <a:ext cx="298217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77927" y="1485900"/>
            <a:ext cx="0" cy="36957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920948" y="1485900"/>
            <a:ext cx="0" cy="36957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899"/>
            <a:ext cx="2988409" cy="223113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4606105" y="1485900"/>
            <a:ext cx="297973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8257323" y="1485900"/>
            <a:ext cx="298217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/>
              <a:t>Click to add subtitle</a:t>
            </a:r>
            <a:endParaRPr lang="en-US" sz="1600" b="0"/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4"/>
            <a:ext cx="10286999" cy="661986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callout text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C256D03-65E9-47C3-AA90-60A52F309A0A}" type="datetime3">
              <a:rPr lang="en-US" smtClean="0"/>
              <a:t>28 April 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3938459"/>
            <a:ext cx="2301354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1" y="3633658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3592038" y="3938459"/>
            <a:ext cx="2332240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591980" y="3633658"/>
            <a:ext cx="2332272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60210" y="3938459"/>
            <a:ext cx="2302372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6262343" y="3633658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555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3591975" y="1185550"/>
            <a:ext cx="2332275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6262335" y="118555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645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27" hasCustomPrompt="1"/>
          </p:nvPr>
        </p:nvSpPr>
        <p:spPr>
          <a:xfrm>
            <a:off x="8899761" y="3938459"/>
            <a:ext cx="2338690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8901816" y="3633658"/>
            <a:ext cx="2337688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8901808" y="1185550"/>
            <a:ext cx="2337691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callout text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3439DF4C-82F3-4A48-944C-5946FED69E88}" type="datetime3">
              <a:rPr lang="en-US" smtClean="0"/>
              <a:t>28 April 2026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Featur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4216231"/>
            <a:ext cx="2301354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1" y="3911430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3592038" y="4216231"/>
            <a:ext cx="2332240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591980" y="3911430"/>
            <a:ext cx="2332272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60210" y="4216231"/>
            <a:ext cx="2302372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6262343" y="3911430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90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3591975" y="1485900"/>
            <a:ext cx="2332275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6262335" y="148590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27" hasCustomPrompt="1"/>
          </p:nvPr>
        </p:nvSpPr>
        <p:spPr>
          <a:xfrm>
            <a:off x="8899761" y="4216231"/>
            <a:ext cx="2338690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8901816" y="3911430"/>
            <a:ext cx="2337688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8901808" y="1485900"/>
            <a:ext cx="2337691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/>
              <a:t>Click to add subtitle</a:t>
            </a:r>
            <a:endParaRPr lang="en-US" sz="1600" b="0"/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Click to add callout text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E2B08519-6315-41FB-B0E1-A3F114F5BC8D}" type="datetime3">
              <a:rPr lang="en-US" smtClean="0"/>
              <a:t>28 April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2829927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1100"/>
            <a:ext cx="2456925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3581400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3577696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6181726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25" hasCustomPrompt="1"/>
          </p:nvPr>
        </p:nvSpPr>
        <p:spPr>
          <a:xfrm>
            <a:off x="6185429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8793163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793163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952500" y="5183771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952500" y="3543300"/>
            <a:ext cx="2456925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3581400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31" hasCustomPrompt="1"/>
          </p:nvPr>
        </p:nvSpPr>
        <p:spPr>
          <a:xfrm>
            <a:off x="3577696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181726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33" hasCustomPrompt="1"/>
          </p:nvPr>
        </p:nvSpPr>
        <p:spPr>
          <a:xfrm>
            <a:off x="6185429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8793163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5" hasCustomPrompt="1"/>
          </p:nvPr>
        </p:nvSpPr>
        <p:spPr>
          <a:xfrm>
            <a:off x="8793163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20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780C1BFE-65F8-42BA-AEC6-E1CDCD1D9510}" type="datetime3">
              <a:rPr lang="en-US" smtClean="0"/>
              <a:t>28 April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allery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134727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900"/>
            <a:ext cx="2456925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3581400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3577696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6181726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25" hasCustomPrompt="1"/>
          </p:nvPr>
        </p:nvSpPr>
        <p:spPr>
          <a:xfrm>
            <a:off x="6185429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8793163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793163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952500" y="5488571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952500" y="3848100"/>
            <a:ext cx="2456925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3581400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31" hasCustomPrompt="1"/>
          </p:nvPr>
        </p:nvSpPr>
        <p:spPr>
          <a:xfrm>
            <a:off x="3577696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181726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33" hasCustomPrompt="1"/>
          </p:nvPr>
        </p:nvSpPr>
        <p:spPr>
          <a:xfrm>
            <a:off x="6185429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8793163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5" hasCustomPrompt="1"/>
          </p:nvPr>
        </p:nvSpPr>
        <p:spPr>
          <a:xfrm>
            <a:off x="8793163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/>
              <a:t>Click to add subtitle</a:t>
            </a:r>
            <a:endParaRPr lang="en-US" sz="1600" b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08D55A71-4362-4593-87CB-E41823C064DC}" type="datetime3">
              <a:rPr lang="en-US" smtClean="0"/>
              <a:t>28 April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3"/>
          <a:stretch/>
        </p:blipFill>
        <p:spPr>
          <a:xfrm>
            <a:off x="817" y="1459"/>
            <a:ext cx="12187996" cy="6499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81100"/>
            <a:ext cx="9144000" cy="1143000"/>
          </a:xfrm>
        </p:spPr>
        <p:txBody>
          <a:bodyPr anchor="b">
            <a:noAutofit/>
          </a:bodyPr>
          <a:lstStyle>
            <a:lvl1pPr>
              <a:defRPr sz="4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798" y="2437483"/>
            <a:ext cx="9145706" cy="5013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6B74-4D7C-41B8-8716-243FC10350F8}" type="datetime3">
              <a:rPr lang="en-US" smtClean="0"/>
              <a:t>28 April 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3" pos="43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3"/>
          <a:stretch/>
        </p:blipFill>
        <p:spPr>
          <a:xfrm>
            <a:off x="817" y="1459"/>
            <a:ext cx="12187996" cy="6499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3825129"/>
            <a:ext cx="9144000" cy="59436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0" y="4415475"/>
            <a:ext cx="9144000" cy="49921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-9053"/>
            <a:ext cx="12192000" cy="3441700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AF675D3-EE53-4DF3-9873-AA023D326548}" type="datetime3">
              <a:rPr lang="en-US" smtClean="0"/>
              <a:t>28 April 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4229100" y="0"/>
            <a:ext cx="7962900" cy="6500474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2705100"/>
            <a:ext cx="3225800" cy="2844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paragraph text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19100"/>
            <a:ext cx="3225800" cy="1905000"/>
          </a:xfrm>
        </p:spPr>
        <p:txBody>
          <a:bodyPr anchor="b">
            <a:norm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quote or interesting fact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C55A886-F9A0-437D-B093-E2576B00778B}" type="datetime3">
              <a:rPr lang="en-US" smtClean="0"/>
              <a:t>28 April 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4229100" y="0"/>
            <a:ext cx="7962900" cy="6500474"/>
          </a:xfr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2705100"/>
            <a:ext cx="3225800" cy="2844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paragraph text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19100"/>
            <a:ext cx="3225800" cy="1905000"/>
          </a:xfrm>
        </p:spPr>
        <p:txBody>
          <a:bodyPr anchor="b">
            <a:norm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quote or interesting fact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4229100" y="1"/>
            <a:ext cx="0" cy="650047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CEBF907-8E11-4E61-ACAA-D5A7842D1285}" type="datetime3">
              <a:rPr lang="en-US" smtClean="0"/>
              <a:t>28 April 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1"/>
            <a:ext cx="12192000" cy="6500473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8089900" y="5462403"/>
            <a:ext cx="3644900" cy="747897"/>
          </a:xfrm>
          <a:solidFill>
            <a:schemeClr val="bg1"/>
          </a:solidFill>
        </p:spPr>
        <p:txBody>
          <a:bodyPr lIns="365760" tIns="274320" rIns="365760" bIns="274320" anchor="t" anchorCtr="0">
            <a:sp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image caption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4093419-78AC-4927-BF95-8261133CCBF6}" type="datetime3">
              <a:rPr lang="en-US" smtClean="0"/>
              <a:t>28 April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A4B-C163-4750-8A07-20C27F1DD650}" type="datetime3">
              <a:rPr lang="en-US" smtClean="0"/>
              <a:t>28 April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/>
              <a:t>Click to add subtitle</a:t>
            </a:r>
            <a:endParaRPr lang="en-US" sz="1600" b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F999DA4-C7B3-416B-B64C-11D36F7936CF}" type="datetime3">
              <a:rPr lang="en-US" smtClean="0"/>
              <a:t>28 April 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00488"/>
            <a:ext cx="12192000" cy="3566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500488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11428508" y="6604000"/>
            <a:ext cx="0" cy="15514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03" y="6565216"/>
            <a:ext cx="212200" cy="228116"/>
          </a:xfrm>
          <a:prstGeom prst="rect">
            <a:avLst/>
          </a:prstGeom>
        </p:spPr>
      </p:pic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D07BC06-E3AA-42D2-AF66-ED3A66270159}" type="datetime3">
              <a:rPr lang="en-US" smtClean="0"/>
              <a:t>28 April 2026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Media Placeholder 10"/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1E29-81CB-4D34-A965-504F330C5D59}" type="datetime3">
              <a:rPr lang="en-US" smtClean="0"/>
              <a:t>28 April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Chart with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 userDrawn="1">
            <p:ph type="title" hasCustomPrompt="1"/>
          </p:nvPr>
        </p:nvSpPr>
        <p:spPr>
          <a:xfrm>
            <a:off x="457200" y="419100"/>
            <a:ext cx="11277600" cy="389709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6096000" y="887620"/>
            <a:ext cx="0" cy="56124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0" y="3695999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 userDrawn="1"/>
        </p:nvCxnSpPr>
        <p:spPr>
          <a:xfrm>
            <a:off x="0" y="88442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7200" y="1447875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" name="Text Placeholder 1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457200" y="1154384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quad title</a:t>
            </a:r>
          </a:p>
        </p:txBody>
      </p:sp>
      <p:sp>
        <p:nvSpPr>
          <p:cNvPr id="55" name="Text Placeholder 14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57200" y="4295396"/>
            <a:ext cx="5295899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" name="Text Placeholder 1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57200" y="4001905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quad title</a:t>
            </a:r>
          </a:p>
        </p:txBody>
      </p:sp>
      <p:sp>
        <p:nvSpPr>
          <p:cNvPr id="59" name="Text Placeholder 14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6442617" y="1444158"/>
            <a:ext cx="5292183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0" name="Text Placeholder 1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42616" y="1150667"/>
            <a:ext cx="5292183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quad title</a:t>
            </a:r>
          </a:p>
        </p:txBody>
      </p:sp>
      <p:sp>
        <p:nvSpPr>
          <p:cNvPr id="62" name="Text Placeholder 14"/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6438900" y="4291679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Text Placeholder 16"/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6438900" y="3998188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quad title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D9FF2945-7E72-42AF-B32A-46DF8F0E0A43}" type="datetime3">
              <a:rPr lang="en-US" smtClean="0"/>
              <a:t>28 April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6096000" y="0"/>
            <a:ext cx="0" cy="64992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325508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7200" y="712591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57200" y="419100"/>
            <a:ext cx="5296821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quad title</a:t>
            </a:r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1" y="3880422"/>
            <a:ext cx="5295899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16"/>
          <p:cNvSpPr>
            <a:spLocks noGrp="1"/>
          </p:cNvSpPr>
          <p:nvPr>
            <p:ph type="body" sz="quarter" idx="28" hasCustomPrompt="1"/>
          </p:nvPr>
        </p:nvSpPr>
        <p:spPr>
          <a:xfrm>
            <a:off x="457199" y="3586931"/>
            <a:ext cx="5295901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quad title</a:t>
            </a:r>
          </a:p>
        </p:txBody>
      </p:sp>
      <p:sp>
        <p:nvSpPr>
          <p:cNvPr id="30" name="Text Placeholder 14"/>
          <p:cNvSpPr>
            <a:spLocks noGrp="1"/>
          </p:cNvSpPr>
          <p:nvPr>
            <p:ph type="body" sz="quarter" idx="31" hasCustomPrompt="1"/>
          </p:nvPr>
        </p:nvSpPr>
        <p:spPr>
          <a:xfrm>
            <a:off x="6438900" y="712591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16"/>
          <p:cNvSpPr>
            <a:spLocks noGrp="1"/>
          </p:cNvSpPr>
          <p:nvPr>
            <p:ph type="body" sz="quarter" idx="32" hasCustomPrompt="1"/>
          </p:nvPr>
        </p:nvSpPr>
        <p:spPr>
          <a:xfrm>
            <a:off x="6438901" y="419100"/>
            <a:ext cx="5293104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quad title</a:t>
            </a:r>
          </a:p>
        </p:txBody>
      </p:sp>
      <p:sp>
        <p:nvSpPr>
          <p:cNvPr id="34" name="Text Placeholder 14"/>
          <p:cNvSpPr>
            <a:spLocks noGrp="1"/>
          </p:cNvSpPr>
          <p:nvPr>
            <p:ph type="body" sz="quarter" idx="35" hasCustomPrompt="1"/>
          </p:nvPr>
        </p:nvSpPr>
        <p:spPr>
          <a:xfrm>
            <a:off x="6438900" y="3876705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16"/>
          <p:cNvSpPr>
            <a:spLocks noGrp="1"/>
          </p:cNvSpPr>
          <p:nvPr>
            <p:ph type="body" sz="quarter" idx="36" hasCustomPrompt="1"/>
          </p:nvPr>
        </p:nvSpPr>
        <p:spPr>
          <a:xfrm>
            <a:off x="6438901" y="3583214"/>
            <a:ext cx="5293104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quad title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61FF344C-A647-423B-8258-92E40F29087E}" type="datetime3">
              <a:rPr lang="en-US" smtClean="0"/>
              <a:t>28 April 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2BCFE-D255-4C4B-BA1D-51B94D9D938B}" type="datetime3">
              <a:rPr lang="en-US" smtClean="0"/>
              <a:t>28 April 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-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200-3133-408E-AEAA-04B3ACA33176}" type="datetime3">
              <a:rPr lang="en-US" smtClean="0"/>
              <a:t>28 April 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1522A75-C6E1-4A35-AEF4-3058F787B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721" y="-1251492"/>
            <a:ext cx="10780553" cy="1168247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Copyright The Johns Hopkins University 2022. All rights reserved.</a:t>
            </a:r>
          </a:p>
        </p:txBody>
      </p:sp>
      <p:pic>
        <p:nvPicPr>
          <p:cNvPr id="8" name="Picture 18">
            <a:extLst>
              <a:ext uri="{FF2B5EF4-FFF2-40B4-BE49-F238E27FC236}">
                <a16:creationId xmlns:a16="http://schemas.microsoft.com/office/drawing/2014/main" id="{6A3B47A9-9AB9-4359-A67A-4A3EC54C4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786" b="778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13">
            <a:extLst>
              <a:ext uri="{FF2B5EF4-FFF2-40B4-BE49-F238E27FC236}">
                <a16:creationId xmlns:a16="http://schemas.microsoft.com/office/drawing/2014/main" id="{6A59C72E-C9CB-418F-981E-D5C3438A0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4"/>
            <a:ext cx="12192001" cy="6857999"/>
          </a:xfrm>
          <a:prstGeom prst="rect">
            <a:avLst/>
          </a:prstGeom>
          <a:gradFill flip="none" rotWithShape="1">
            <a:gsLst>
              <a:gs pos="0">
                <a:srgbClr val="69ACE5">
                  <a:alpha val="85000"/>
                </a:srgbClr>
              </a:gs>
              <a:gs pos="75000">
                <a:srgbClr val="3B6FAF">
                  <a:alpha val="8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WSE Logo">
            <a:extLst>
              <a:ext uri="{FF2B5EF4-FFF2-40B4-BE49-F238E27FC236}">
                <a16:creationId xmlns:a16="http://schemas.microsoft.com/office/drawing/2014/main" id="{73EE76B3-19B8-4A4F-9962-98EBF35D9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2" t="22639" r="15939" b="21111"/>
          <a:stretch/>
        </p:blipFill>
        <p:spPr>
          <a:xfrm>
            <a:off x="3446626" y="1889550"/>
            <a:ext cx="5298749" cy="30789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46C736-D135-449F-AC2D-8C9ACCE3507D}"/>
              </a:ext>
            </a:extLst>
          </p:cNvPr>
          <p:cNvSpPr/>
          <p:nvPr userDrawn="1"/>
        </p:nvSpPr>
        <p:spPr>
          <a:xfrm>
            <a:off x="0" y="6303181"/>
            <a:ext cx="12192000" cy="289518"/>
          </a:xfrm>
          <a:prstGeom prst="rect">
            <a:avLst/>
          </a:prstGeom>
        </p:spPr>
        <p:txBody>
          <a:bodyPr wrap="square" lIns="108852" tIns="54427" rIns="108852" bIns="54427">
            <a:spAutoFit/>
          </a:bodyPr>
          <a:lstStyle/>
          <a:p>
            <a:pPr algn="ctr"/>
            <a:r>
              <a:rPr lang="en-US" sz="1167">
                <a:solidFill>
                  <a:schemeClr val="bg1"/>
                </a:solidFill>
                <a:latin typeface="Arial"/>
                <a:cs typeface="Arial"/>
              </a:rPr>
              <a:t>© The Johns Hopkins University 2022,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55270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 descr="Medical History Moment - The Founding of Johns Hopkins University ...">
            <a:extLst>
              <a:ext uri="{FF2B5EF4-FFF2-40B4-BE49-F238E27FC236}">
                <a16:creationId xmlns:a16="http://schemas.microsoft.com/office/drawing/2014/main" id="{268DE600-90A7-4B6B-BFFA-EA2C6E80718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786" b="778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13">
            <a:extLst>
              <a:ext uri="{FF2B5EF4-FFF2-40B4-BE49-F238E27FC236}">
                <a16:creationId xmlns:a16="http://schemas.microsoft.com/office/drawing/2014/main" id="{EBA27004-3833-43ED-82E9-6895434B895C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4"/>
            <a:ext cx="12192001" cy="6857999"/>
          </a:xfrm>
          <a:prstGeom prst="rect">
            <a:avLst/>
          </a:prstGeom>
          <a:solidFill>
            <a:schemeClr val="tx2">
              <a:alpha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610272-EE8A-4752-A390-42C726F6D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9" t="29483" r="13581" b="28303"/>
          <a:stretch/>
        </p:blipFill>
        <p:spPr>
          <a:xfrm>
            <a:off x="8398411" y="596121"/>
            <a:ext cx="3169920" cy="828561"/>
          </a:xfrm>
          <a:prstGeom prst="rect">
            <a:avLst/>
          </a:prstGeom>
        </p:spPr>
      </p:pic>
      <p:sp>
        <p:nvSpPr>
          <p:cNvPr id="6" name="Course Title">
            <a:extLst>
              <a:ext uri="{FF2B5EF4-FFF2-40B4-BE49-F238E27FC236}">
                <a16:creationId xmlns:a16="http://schemas.microsoft.com/office/drawing/2014/main" id="{A43E8622-AA5C-40CF-A3A0-8B2BF9D75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668" y="2987789"/>
            <a:ext cx="10944664" cy="725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55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add course title</a:t>
            </a:r>
          </a:p>
        </p:txBody>
      </p:sp>
      <p:sp>
        <p:nvSpPr>
          <p:cNvPr id="7" name="Lecture Title">
            <a:extLst>
              <a:ext uri="{FF2B5EF4-FFF2-40B4-BE49-F238E27FC236}">
                <a16:creationId xmlns:a16="http://schemas.microsoft.com/office/drawing/2014/main" id="{DE1C7E4D-69CB-4F79-9436-E0466B26F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666" y="3713288"/>
            <a:ext cx="10958737" cy="4889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add lecture title</a:t>
            </a:r>
          </a:p>
        </p:txBody>
      </p:sp>
    </p:spTree>
    <p:extLst>
      <p:ext uri="{BB962C8B-B14F-4D97-AF65-F5344CB8AC3E}">
        <p14:creationId xmlns:p14="http://schemas.microsoft.com/office/powerpoint/2010/main" val="20663424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4A0AA2-B636-401F-B58B-6DF5349EB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14BC9-864B-4D63-BFF5-8A26BC6E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11893" y="1854201"/>
            <a:ext cx="10780553" cy="4103431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spcBef>
                <a:spcPts val="1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1981" indent="-304792">
              <a:buClr>
                <a:schemeClr val="bg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bg2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712F24-2ADD-4B4F-B20F-5AF8A064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26612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95812EB8-9C15-3D45-A153-203E42E98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135" y="142826"/>
            <a:ext cx="10785311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136" y="1853185"/>
            <a:ext cx="10795496" cy="2031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309026" indent="-309026" algn="l">
              <a:buClr>
                <a:srgbClr val="69ACE5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6910">
              <a:buClr>
                <a:schemeClr val="bg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69ACE5"/>
              </a:buClr>
              <a:defRPr sz="2133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135" y="4078462"/>
            <a:ext cx="10785311" cy="2031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309026" indent="-309026" algn="l">
              <a:buClr>
                <a:srgbClr val="69ACE5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marR="0" indent="-30691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sz="2133"/>
            </a:lvl2pPr>
            <a:lvl3pPr marL="1219170" indent="-304792">
              <a:buClr>
                <a:srgbClr val="69ACE5"/>
              </a:buClr>
              <a:buFont typeface="Arial" panose="020B0604020202020204" pitchFamily="34" charset="0"/>
              <a:buChar char="•"/>
              <a:defRPr sz="2133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461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and Imag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08DC6AAE-017C-4253-840E-AB4D795A3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6313" y="406400"/>
            <a:ext cx="4809719" cy="1186992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6AD7-2136-4D32-B4FA-6F27E804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7280" y="1596213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976313" y="2060448"/>
            <a:ext cx="4809719" cy="3901440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spcBef>
                <a:spcPts val="1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1981" indent="-304792"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spcBef>
                <a:spcPts val="500"/>
              </a:spcBef>
              <a:buClr>
                <a:schemeClr val="bg2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75B79D34-DFEF-4AC5-AC86-378A247C4C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5970" y="0"/>
            <a:ext cx="4809719" cy="6858000"/>
          </a:xfrm>
          <a:custGeom>
            <a:avLst/>
            <a:gdLst>
              <a:gd name="connsiteX0" fmla="*/ 0 w 3657600"/>
              <a:gd name="connsiteY0" fmla="*/ 0 h 4343400"/>
              <a:gd name="connsiteX1" fmla="*/ 3657600 w 3657600"/>
              <a:gd name="connsiteY1" fmla="*/ 0 h 4343400"/>
              <a:gd name="connsiteX2" fmla="*/ 3657600 w 3657600"/>
              <a:gd name="connsiteY2" fmla="*/ 4343400 h 4343400"/>
              <a:gd name="connsiteX3" fmla="*/ 0 w 36576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4343400">
                <a:moveTo>
                  <a:pt x="0" y="0"/>
                </a:moveTo>
                <a:lnTo>
                  <a:pt x="3657600" y="0"/>
                </a:lnTo>
                <a:lnTo>
                  <a:pt x="3657600" y="4343400"/>
                </a:lnTo>
                <a:lnTo>
                  <a:pt x="0" y="43434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55E0E6A-E25B-428F-BA8C-4A0886B089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281" y="6480225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pic>
        <p:nvPicPr>
          <p:cNvPr id="9" name="WSE logo">
            <a:extLst>
              <a:ext uri="{FF2B5EF4-FFF2-40B4-BE49-F238E27FC236}">
                <a16:creationId xmlns:a16="http://schemas.microsoft.com/office/drawing/2014/main" id="{D3042606-CA6F-4BC4-80EF-92D44CA31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  <p:sp>
        <p:nvSpPr>
          <p:cNvPr id="12" name="Page Number">
            <a:extLst>
              <a:ext uri="{FF2B5EF4-FFF2-40B4-BE49-F238E27FC236}">
                <a16:creationId xmlns:a16="http://schemas.microsoft.com/office/drawing/2014/main" id="{01F6A14B-EEAE-2542-8809-4C8C18188C92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5098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870507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7137" y="1853184"/>
            <a:ext cx="4762500" cy="4179029"/>
          </a:xfrm>
          <a:prstGeom prst="rect">
            <a:avLst/>
          </a:prstGeom>
        </p:spPr>
        <p:txBody>
          <a:bodyPr>
            <a:noAutofit/>
          </a:bodyPr>
          <a:lstStyle>
            <a:lvl1pPr marL="344479" indent="-344479">
              <a:buClr>
                <a:schemeClr val="bg2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chemeClr val="bg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bg2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6096000" y="1853184"/>
            <a:ext cx="5486400" cy="4233291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80005" y="6089182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323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870507" cy="1143389"/>
          </a:xfrm>
          <a:prstGeom prst="rect">
            <a:avLst/>
          </a:prstGeom>
        </p:spPr>
        <p:txBody>
          <a:bodyPr anchor="b"/>
          <a:lstStyle>
            <a:lvl1pPr>
              <a:defRPr sz="40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4884B21B-478C-4C01-9996-0F72AC036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auto">
          <a:xfrm>
            <a:off x="696949" y="1853184"/>
            <a:ext cx="5228831" cy="4233291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Citation">
            <a:extLst>
              <a:ext uri="{FF2B5EF4-FFF2-40B4-BE49-F238E27FC236}">
                <a16:creationId xmlns:a16="http://schemas.microsoft.com/office/drawing/2014/main" id="{47FB68FD-CDA4-408D-A343-8A86DF16AE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23384" y="6113427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6353569" y="1853184"/>
            <a:ext cx="5228831" cy="4233291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80005" y="6089182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572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E64E24-CAF0-4D23-BB2F-41C411BEF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136" y="142825"/>
            <a:ext cx="10885451" cy="1144673"/>
          </a:xfrm>
          <a:prstGeom prst="rect">
            <a:avLst/>
          </a:prstGeom>
        </p:spPr>
        <p:txBody>
          <a:bodyPr anchor="b"/>
          <a:lstStyle>
            <a:lvl1pPr>
              <a:defRPr sz="4000" b="1" i="0" u="none">
                <a:solidFill>
                  <a:srgbClr val="092C74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title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19901" y="1696332"/>
            <a:ext cx="4762500" cy="4233289"/>
          </a:xfrm>
          <a:prstGeom prst="rect">
            <a:avLst/>
          </a:prstGeom>
        </p:spPr>
        <p:txBody>
          <a:bodyPr>
            <a:noAutofit/>
          </a:bodyPr>
          <a:lstStyle>
            <a:lvl1pPr marL="344479" indent="-344479">
              <a:buClr>
                <a:schemeClr val="bg2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chemeClr val="bg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bg2"/>
              </a:buClr>
              <a:defRPr sz="2133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609600" y="1696332"/>
            <a:ext cx="5486400" cy="4233291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80005" y="6089182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587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42DFC6F8-F82A-4114-AF17-42AD3A68F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9672" y="142826"/>
            <a:ext cx="568277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F9A7C-CFE6-4689-B094-29307EAE2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3120" y="1286872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8DA302DD-2F66-408A-AD8F-F13AE0B7E7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09674" y="1790701"/>
            <a:ext cx="5772727" cy="3990668"/>
          </a:xfrm>
          <a:prstGeom prst="rect">
            <a:avLst/>
          </a:prstGeom>
        </p:spPr>
        <p:txBody>
          <a:bodyPr>
            <a:noAutofit/>
          </a:bodyPr>
          <a:lstStyle>
            <a:lvl1pPr marL="304792" indent="-304792">
              <a:buClr>
                <a:schemeClr val="bg2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6214" indent="-309026">
              <a:buClr>
                <a:schemeClr val="bg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bg2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BCC896-FFF3-426B-9D11-0F27346676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607408"/>
            <a:ext cx="5132388" cy="5173961"/>
          </a:xfrm>
          <a:custGeom>
            <a:avLst/>
            <a:gdLst>
              <a:gd name="connsiteX0" fmla="*/ 0 w 3644900"/>
              <a:gd name="connsiteY0" fmla="*/ 0 h 5029200"/>
              <a:gd name="connsiteX1" fmla="*/ 3644900 w 3644900"/>
              <a:gd name="connsiteY1" fmla="*/ 0 h 5029200"/>
              <a:gd name="connsiteX2" fmla="*/ 3644900 w 3644900"/>
              <a:gd name="connsiteY2" fmla="*/ 5029200 h 5029200"/>
              <a:gd name="connsiteX3" fmla="*/ 0 w 3644900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4900" h="5029200">
                <a:moveTo>
                  <a:pt x="0" y="0"/>
                </a:moveTo>
                <a:lnTo>
                  <a:pt x="3644900" y="0"/>
                </a:lnTo>
                <a:lnTo>
                  <a:pt x="3644900" y="5029200"/>
                </a:lnTo>
                <a:lnTo>
                  <a:pt x="0" y="50292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9" name="Picture Citation">
            <a:extLst>
              <a:ext uri="{FF2B5EF4-FFF2-40B4-BE49-F238E27FC236}">
                <a16:creationId xmlns:a16="http://schemas.microsoft.com/office/drawing/2014/main" id="{5DDDCA7F-5C0D-4D05-AFA8-052A81B4CD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81369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5FF3179F-903F-4802-ACAB-83CB211F685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1" name="WSE logo">
            <a:extLst>
              <a:ext uri="{FF2B5EF4-FFF2-40B4-BE49-F238E27FC236}">
                <a16:creationId xmlns:a16="http://schemas.microsoft.com/office/drawing/2014/main" id="{D62DDA77-9FC9-45C0-9D2C-19564EE2F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264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Imag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9D2BC59-BAA9-4F86-A1D2-5D980B71B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7565" y="434109"/>
            <a:ext cx="4174836" cy="1590243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BCBD4-734B-4675-AF6F-AADF5D7D0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2024352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ullets">
            <a:extLst>
              <a:ext uri="{FF2B5EF4-FFF2-40B4-BE49-F238E27FC236}">
                <a16:creationId xmlns:a16="http://schemas.microsoft.com/office/drawing/2014/main" id="{193BA231-D4D9-4495-ABB3-778FD8DA042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407565" y="2447636"/>
            <a:ext cx="4174836" cy="3558640"/>
          </a:xfrm>
          <a:prstGeom prst="rect">
            <a:avLst/>
          </a:prstGeom>
        </p:spPr>
        <p:txBody>
          <a:bodyPr>
            <a:noAutofit/>
          </a:bodyPr>
          <a:lstStyle>
            <a:lvl1pPr marL="304792" indent="-304792">
              <a:buClr>
                <a:schemeClr val="bg2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6214" indent="-309026">
              <a:buClr>
                <a:schemeClr val="bg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bg2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265A9C31-C8EA-436B-A2CE-0C7EF8C1A1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765651" cy="6858000"/>
          </a:xfrm>
          <a:custGeom>
            <a:avLst/>
            <a:gdLst>
              <a:gd name="connsiteX0" fmla="*/ 0 w 5965370"/>
              <a:gd name="connsiteY0" fmla="*/ 0 h 6858000"/>
              <a:gd name="connsiteX1" fmla="*/ 5965370 w 5965370"/>
              <a:gd name="connsiteY1" fmla="*/ 0 h 6858000"/>
              <a:gd name="connsiteX2" fmla="*/ 5965370 w 5965370"/>
              <a:gd name="connsiteY2" fmla="*/ 6858000 h 6858000"/>
              <a:gd name="connsiteX3" fmla="*/ 0 w 596537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5370" h="6858000">
                <a:moveTo>
                  <a:pt x="0" y="0"/>
                </a:moveTo>
                <a:lnTo>
                  <a:pt x="5965370" y="0"/>
                </a:lnTo>
                <a:lnTo>
                  <a:pt x="5965370" y="6858000"/>
                </a:lnTo>
                <a:lnTo>
                  <a:pt x="0" y="68580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EE8084E3-8476-4A31-8838-95D56C1C99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68827" y="6480226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111069FF-2DBD-453E-A62E-A87DF2CF2FB0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20376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mag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9D2BC59-BAA9-4F86-A1D2-5D980B71B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53" y="437871"/>
            <a:ext cx="4174836" cy="1590243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BCBD4-734B-4675-AF6F-AADF5D7D0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568" y="2028113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ullets">
            <a:extLst>
              <a:ext uri="{FF2B5EF4-FFF2-40B4-BE49-F238E27FC236}">
                <a16:creationId xmlns:a16="http://schemas.microsoft.com/office/drawing/2014/main" id="{193BA231-D4D9-4495-ABB3-778FD8DA042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7053" y="2451397"/>
            <a:ext cx="4174836" cy="3558640"/>
          </a:xfrm>
          <a:prstGeom prst="rect">
            <a:avLst/>
          </a:prstGeom>
        </p:spPr>
        <p:txBody>
          <a:bodyPr>
            <a:noAutofit/>
          </a:bodyPr>
          <a:lstStyle>
            <a:lvl1pPr marL="304792" indent="-304792">
              <a:buClr>
                <a:schemeClr val="bg2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6214" indent="-309026">
              <a:buClr>
                <a:schemeClr val="bg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bg2"/>
              </a:buClr>
              <a:defRPr sz="2133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265A9C31-C8EA-436B-A2CE-0C7EF8C1A1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26349" y="0"/>
            <a:ext cx="6765651" cy="6858000"/>
          </a:xfrm>
          <a:custGeom>
            <a:avLst/>
            <a:gdLst>
              <a:gd name="connsiteX0" fmla="*/ 0 w 5965370"/>
              <a:gd name="connsiteY0" fmla="*/ 0 h 6858000"/>
              <a:gd name="connsiteX1" fmla="*/ 5965370 w 5965370"/>
              <a:gd name="connsiteY1" fmla="*/ 0 h 6858000"/>
              <a:gd name="connsiteX2" fmla="*/ 5965370 w 5965370"/>
              <a:gd name="connsiteY2" fmla="*/ 6858000 h 6858000"/>
              <a:gd name="connsiteX3" fmla="*/ 0 w 596537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5370" h="6858000">
                <a:moveTo>
                  <a:pt x="0" y="0"/>
                </a:moveTo>
                <a:lnTo>
                  <a:pt x="5965370" y="0"/>
                </a:lnTo>
                <a:lnTo>
                  <a:pt x="5965370" y="6858000"/>
                </a:lnTo>
                <a:lnTo>
                  <a:pt x="0" y="68580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EE8084E3-8476-4A31-8838-95D56C1C99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36612" y="6512013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111069FF-2DBD-453E-A62E-A87DF2CF2FB0}"/>
              </a:ext>
            </a:extLst>
          </p:cNvPr>
          <p:cNvSpPr txBox="1"/>
          <p:nvPr userDrawn="1"/>
        </p:nvSpPr>
        <p:spPr>
          <a:xfrm>
            <a:off x="-533399" y="6527909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5729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70285FB5-8EF0-4290-82AE-0E7D18F5E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50E0-BE9C-4243-B6E1-D36E23EB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able or Image">
            <a:extLst>
              <a:ext uri="{FF2B5EF4-FFF2-40B4-BE49-F238E27FC236}">
                <a16:creationId xmlns:a16="http://schemas.microsoft.com/office/drawing/2014/main" id="{474FEC9E-6C14-410D-B6E1-07F8E9C778B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0831" y="1539898"/>
            <a:ext cx="10780555" cy="4564621"/>
          </a:xfrm>
          <a:prstGeom prst="rect">
            <a:avLst/>
          </a:prstGeom>
        </p:spPr>
        <p:txBody>
          <a:bodyPr/>
          <a:lstStyle>
            <a:lvl1pPr marL="306910" indent="-306910">
              <a:buClr>
                <a:schemeClr val="tx2"/>
              </a:buClr>
              <a:buFont typeface="Wingdings" panose="05000000000000000000" pitchFamily="2" charset="2"/>
              <a:buNone/>
              <a:defRPr sz="2400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Table or image</a:t>
            </a:r>
          </a:p>
        </p:txBody>
      </p:sp>
      <p:sp>
        <p:nvSpPr>
          <p:cNvPr id="9" name="Citation">
            <a:extLst>
              <a:ext uri="{FF2B5EF4-FFF2-40B4-BE49-F238E27FC236}">
                <a16:creationId xmlns:a16="http://schemas.microsoft.com/office/drawing/2014/main" id="{CA0A6044-029B-48E2-80D3-50F9660246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99361" y="6108414"/>
            <a:ext cx="8992023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lang="en-US" sz="1400" b="0" i="0" u="none" strike="noStrike" smtClean="0">
                <a:effectLst/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Adapted/Reprinted from [APA reference].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2" name="WSE logo">
            <a:extLst>
              <a:ext uri="{FF2B5EF4-FFF2-40B4-BE49-F238E27FC236}">
                <a16:creationId xmlns:a16="http://schemas.microsoft.com/office/drawing/2014/main" id="{3A47A697-B777-4F7D-815F-EDBEC2B3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972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70285FB5-8EF0-4290-82AE-0E7D18F5E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50E0-BE9C-4243-B6E1-D36E23EB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2" name="WSE logo">
            <a:extLst>
              <a:ext uri="{FF2B5EF4-FFF2-40B4-BE49-F238E27FC236}">
                <a16:creationId xmlns:a16="http://schemas.microsoft.com/office/drawing/2014/main" id="{3A47A697-B777-4F7D-815F-EDBEC2B3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578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7577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1522A75-C6E1-4A35-AEF4-3058F787B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721" y="-1251492"/>
            <a:ext cx="10780553" cy="1168247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Copyright The Johns Hopkins University 2022. All rights reserved.</a:t>
            </a:r>
          </a:p>
        </p:txBody>
      </p:sp>
      <p:pic>
        <p:nvPicPr>
          <p:cNvPr id="8" name="Picture 18">
            <a:extLst>
              <a:ext uri="{FF2B5EF4-FFF2-40B4-BE49-F238E27FC236}">
                <a16:creationId xmlns:a16="http://schemas.microsoft.com/office/drawing/2014/main" id="{6A3B47A9-9AB9-4359-A67A-4A3EC54C4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786" b="778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13">
            <a:extLst>
              <a:ext uri="{FF2B5EF4-FFF2-40B4-BE49-F238E27FC236}">
                <a16:creationId xmlns:a16="http://schemas.microsoft.com/office/drawing/2014/main" id="{6A59C72E-C9CB-418F-981E-D5C3438A0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4"/>
            <a:ext cx="12192001" cy="6857999"/>
          </a:xfrm>
          <a:prstGeom prst="rect">
            <a:avLst/>
          </a:prstGeom>
          <a:gradFill flip="none" rotWithShape="1">
            <a:gsLst>
              <a:gs pos="0">
                <a:srgbClr val="69ACE5">
                  <a:alpha val="85000"/>
                </a:srgbClr>
              </a:gs>
              <a:gs pos="75000">
                <a:srgbClr val="3B6FAF">
                  <a:alpha val="8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WSE Logo">
            <a:extLst>
              <a:ext uri="{FF2B5EF4-FFF2-40B4-BE49-F238E27FC236}">
                <a16:creationId xmlns:a16="http://schemas.microsoft.com/office/drawing/2014/main" id="{73EE76B3-19B8-4A4F-9962-98EBF35D9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2" t="22639" r="15939" b="21111"/>
          <a:stretch/>
        </p:blipFill>
        <p:spPr>
          <a:xfrm>
            <a:off x="3446626" y="1889550"/>
            <a:ext cx="5298749" cy="30789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46C736-D135-449F-AC2D-8C9ACCE3507D}"/>
              </a:ext>
            </a:extLst>
          </p:cNvPr>
          <p:cNvSpPr/>
          <p:nvPr userDrawn="1"/>
        </p:nvSpPr>
        <p:spPr>
          <a:xfrm>
            <a:off x="0" y="6303181"/>
            <a:ext cx="12192000" cy="289518"/>
          </a:xfrm>
          <a:prstGeom prst="rect">
            <a:avLst/>
          </a:prstGeom>
        </p:spPr>
        <p:txBody>
          <a:bodyPr wrap="square" lIns="108852" tIns="54427" rIns="108852" bIns="54427">
            <a:spAutoFit/>
          </a:bodyPr>
          <a:lstStyle/>
          <a:p>
            <a:pPr algn="ctr"/>
            <a:r>
              <a:rPr lang="en-US" sz="1167">
                <a:solidFill>
                  <a:schemeClr val="bg1"/>
                </a:solidFill>
                <a:latin typeface="Arial"/>
                <a:cs typeface="Arial"/>
              </a:rPr>
              <a:t>© The Johns Hopkins University 2022,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6760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499798"/>
            <a:ext cx="12192000" cy="356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6500474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181100"/>
            <a:ext cx="10287000" cy="5029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36810" y="6500814"/>
            <a:ext cx="1371600" cy="357186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BD90533-0019-439F-9033-E5FD503D101E}" type="datetime3">
              <a:rPr lang="en-US" smtClean="0"/>
              <a:t>28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2416" y="6500814"/>
            <a:ext cx="3197406" cy="355600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0302" y="6500474"/>
            <a:ext cx="381000" cy="3575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1">
                <a:solidFill>
                  <a:schemeClr val="accent2"/>
                </a:solidFill>
              </a:defRPr>
            </a:lvl1pPr>
          </a:lstStyle>
          <a:p>
            <a:fld id="{4EBCDCBD-78E1-0D41-A999-31B5EBF8E0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1424239" y="6604000"/>
            <a:ext cx="0" cy="15514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566791"/>
            <a:ext cx="210893" cy="2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692" r:id="rId2"/>
    <p:sldLayoutId id="2147483721" r:id="rId3"/>
    <p:sldLayoutId id="2147483693" r:id="rId4"/>
    <p:sldLayoutId id="2147483722" r:id="rId5"/>
    <p:sldLayoutId id="2147483694" r:id="rId6"/>
    <p:sldLayoutId id="2147483723" r:id="rId7"/>
    <p:sldLayoutId id="2147483695" r:id="rId8"/>
    <p:sldLayoutId id="2147483724" r:id="rId9"/>
    <p:sldLayoutId id="2147483717" r:id="rId10"/>
    <p:sldLayoutId id="2147483697" r:id="rId11"/>
    <p:sldLayoutId id="2147483731" r:id="rId12"/>
    <p:sldLayoutId id="2147483701" r:id="rId13"/>
    <p:sldLayoutId id="2147483732" r:id="rId14"/>
    <p:sldLayoutId id="2147483703" r:id="rId15"/>
    <p:sldLayoutId id="2147483733" r:id="rId16"/>
    <p:sldLayoutId id="2147483704" r:id="rId17"/>
    <p:sldLayoutId id="2147483734" r:id="rId18"/>
    <p:sldLayoutId id="2147483730" r:id="rId19"/>
    <p:sldLayoutId id="2147483736" r:id="rId20"/>
    <p:sldLayoutId id="2147483705" r:id="rId21"/>
    <p:sldLayoutId id="2147483735" r:id="rId22"/>
    <p:sldLayoutId id="2147483707" r:id="rId23"/>
    <p:sldLayoutId id="2147483708" r:id="rId24"/>
    <p:sldLayoutId id="2147483709" r:id="rId25"/>
    <p:sldLayoutId id="2147483725" r:id="rId26"/>
    <p:sldLayoutId id="2147483710" r:id="rId27"/>
    <p:sldLayoutId id="2147483711" r:id="rId28"/>
    <p:sldLayoutId id="2147483737" r:id="rId29"/>
    <p:sldLayoutId id="2147483712" r:id="rId30"/>
    <p:sldLayoutId id="2147483713" r:id="rId31"/>
    <p:sldLayoutId id="2147483727" r:id="rId32"/>
    <p:sldLayoutId id="2147483726" r:id="rId33"/>
    <p:sldLayoutId id="2147483720" r:id="rId34"/>
    <p:sldLayoutId id="2147483715" r:id="rId35"/>
    <p:sldLayoutId id="2147483754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693738" indent="-246063" algn="l" defTabSz="914400" rtl="0" eaLnBrk="1" latinLnBrk="0" hangingPunct="1">
        <a:lnSpc>
          <a:spcPct val="100000"/>
        </a:lnSpc>
        <a:spcBef>
          <a:spcPts val="400"/>
        </a:spcBef>
        <a:buFont typeface=".AppleSystemUIFont" charset="-120"/>
        <a:buChar char="-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50938" indent="-228600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Wingdings" charset="2"/>
        <a:buChar char="§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606550" indent="-227013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Courier New" charset="0"/>
        <a:buChar char="o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2063750" indent="-22860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•"/>
        <a:tabLst/>
        <a:defRPr sz="1600" kern="1200" baseline="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orient="horz" pos="264" userDrawn="1">
          <p15:clr>
            <a:srgbClr val="F26B43"/>
          </p15:clr>
        </p15:guide>
        <p15:guide id="11" pos="288" userDrawn="1">
          <p15:clr>
            <a:srgbClr val="F26B43"/>
          </p15:clr>
        </p15:guide>
        <p15:guide id="12" pos="7392" userDrawn="1">
          <p15:clr>
            <a:srgbClr val="F26B43"/>
          </p15:clr>
        </p15:guide>
        <p15:guide id="13" orient="horz" pos="3912" userDrawn="1">
          <p15:clr>
            <a:srgbClr val="F26B43"/>
          </p15:clr>
        </p15:guide>
        <p15:guide id="14" pos="3840" userDrawn="1">
          <p15:clr>
            <a:srgbClr val="F26B43"/>
          </p15:clr>
        </p15:guide>
        <p15:guide id="16" orient="horz" pos="936" userDrawn="1">
          <p15:clr>
            <a:srgbClr val="F26B43"/>
          </p15:clr>
        </p15:guide>
        <p15:guide id="17" pos="600" userDrawn="1">
          <p15:clr>
            <a:srgbClr val="F26B43"/>
          </p15:clr>
        </p15:guide>
        <p15:guide id="18" pos="7080" userDrawn="1">
          <p15:clr>
            <a:srgbClr val="F26B43"/>
          </p15:clr>
        </p15:guide>
        <p15:guide id="19" pos="4056" userDrawn="1">
          <p15:clr>
            <a:srgbClr val="F26B43"/>
          </p15:clr>
        </p15:guide>
        <p15:guide id="20" pos="3624" userDrawn="1">
          <p15:clr>
            <a:srgbClr val="F26B43"/>
          </p15:clr>
        </p15:guide>
        <p15:guide id="22" orient="horz" pos="74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56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6076286-1248-4513-8951-8BAA9550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89" y="1111815"/>
            <a:ext cx="10944664" cy="231718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Strategic Oversight of Classical Pathfinding</a:t>
            </a:r>
          </a:p>
        </p:txBody>
      </p:sp>
      <p:sp>
        <p:nvSpPr>
          <p:cNvPr id="9" name="Lecture Title">
            <a:extLst>
              <a:ext uri="{FF2B5EF4-FFF2-40B4-BE49-F238E27FC236}">
                <a16:creationId xmlns:a16="http://schemas.microsoft.com/office/drawing/2014/main" id="{6E9DDCCD-6809-49BB-9647-A8B2884DA2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0478" y="4267062"/>
            <a:ext cx="3159597" cy="341741"/>
          </a:xfrm>
        </p:spPr>
        <p:txBody>
          <a:bodyPr lIns="91440" tIns="45720" rIns="91440" bIns="45720" anchor="t">
            <a:normAutofit fontScale="25000" lnSpcReduction="20000"/>
          </a:bodyPr>
          <a:lstStyle/>
          <a:p>
            <a:pPr algn="ctr"/>
            <a:r>
              <a:rPr lang="en-US" sz="7200" dirty="0">
                <a:latin typeface="Tahoma"/>
                <a:ea typeface="Tahoma"/>
                <a:cs typeface="Tahoma"/>
              </a:rPr>
              <a:t>Fatih Karatay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3402725" y="4608803"/>
            <a:ext cx="4595105" cy="1406103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ahoma"/>
                <a:ea typeface="+mn-ea"/>
                <a:cs typeface="+mn-cs"/>
              </a:rPr>
              <a:t> EN.705.625.8VL.SP26 Introduction to Agentic AI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ahoma"/>
                <a:ea typeface="+mn-ea"/>
                <a:cs typeface="+mn-cs"/>
              </a:rPr>
              <a:t>April 2026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8ACE5">
                  <a:lumMod val="20000"/>
                  <a:lumOff val="8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ahoma"/>
              <a:ea typeface="+mn-ea"/>
              <a:cs typeface="+mn-cs"/>
            </a:endParaRPr>
          </a:p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Lecture Title">
            <a:extLst>
              <a:ext uri="{FF2B5EF4-FFF2-40B4-BE49-F238E27FC236}">
                <a16:creationId xmlns:a16="http://schemas.microsoft.com/office/drawing/2014/main" id="{101473EE-2D79-12B5-43EA-8B7BF10F8971}"/>
              </a:ext>
            </a:extLst>
          </p:cNvPr>
          <p:cNvSpPr txBox="1">
            <a:spLocks/>
          </p:cNvSpPr>
          <p:nvPr/>
        </p:nvSpPr>
        <p:spPr>
          <a:xfrm>
            <a:off x="596616" y="3327880"/>
            <a:ext cx="10958737" cy="34174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91440" tIns="45720" rIns="91440" bIns="45720" anchor="t">
            <a:normAutofit fontScale="77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1"/>
              <a:t>Cross-episode Episodic </a:t>
            </a:r>
            <a:r>
              <a:rPr lang="en-US" i="1" dirty="0"/>
              <a:t>M</a:t>
            </a:r>
            <a:r>
              <a:rPr lang="en-US" i="1"/>
              <a:t>emory </a:t>
            </a:r>
            <a:r>
              <a:rPr lang="en-US" i="1" dirty="0"/>
              <a:t>+ </a:t>
            </a:r>
            <a:r>
              <a:rPr lang="en-US" i="1"/>
              <a:t>LLM-driven Reflective Reasoning </a:t>
            </a:r>
            <a:r>
              <a:rPr lang="en-US" i="1" dirty="0"/>
              <a:t>O</a:t>
            </a:r>
            <a:r>
              <a:rPr lang="en-US" i="1"/>
              <a:t>ver </a:t>
            </a:r>
            <a:r>
              <a:rPr lang="en-US" i="1" dirty="0"/>
              <a:t>A*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74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The Problem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10820400" y="6500813"/>
            <a:ext cx="1371600" cy="357187"/>
          </a:xfrm>
        </p:spPr>
        <p:txBody>
          <a:bodyPr/>
          <a:lstStyle/>
          <a:p>
            <a:fld id="{ED876B74-4D7C-41B8-8716-243FC10350F8}" type="datetime3">
              <a:rPr lang="en-US" smtClean="0"/>
              <a:t>28 April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811000" y="6500813"/>
            <a:ext cx="381000" cy="357187"/>
          </a:xfrm>
        </p:spPr>
        <p:txBody>
          <a:bodyPr/>
          <a:lstStyle/>
          <a:p>
            <a:fld id="{4EBCDCBD-78E1-0D41-A999-31B5EBF8E02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7D83FB-C347-45DF-901F-82980B5109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A* and D* Lite are powerful, but limited:</a:t>
            </a:r>
            <a:endParaRPr lang="en-US" dirty="0"/>
          </a:p>
          <a:p>
            <a:pPr lvl="1"/>
            <a:r>
              <a:rPr lang="en-US" dirty="0"/>
              <a:t>They reset between episodes.</a:t>
            </a:r>
          </a:p>
          <a:p>
            <a:pPr lvl="1"/>
            <a:r>
              <a:rPr lang="en-US" dirty="0"/>
              <a:t>They return a path, not a </a:t>
            </a:r>
            <a:r>
              <a:rPr lang="en-US" i="1" dirty="0"/>
              <a:t>reason</a:t>
            </a:r>
            <a:r>
              <a:rPr lang="en-US" dirty="0"/>
              <a:t>.</a:t>
            </a:r>
          </a:p>
          <a:p>
            <a:r>
              <a:rPr lang="en-US" b="1" dirty="0"/>
              <a:t>Research questions:</a:t>
            </a:r>
            <a:endParaRPr lang="en-US" dirty="0"/>
          </a:p>
          <a:p>
            <a:pPr lvl="1"/>
            <a:r>
              <a:rPr lang="en-US" dirty="0"/>
              <a:t>RQ1 (Memory): Does cross-episode memory beat D* Lite as episodes accumulate?</a:t>
            </a:r>
          </a:p>
          <a:p>
            <a:pPr lvl="1"/>
            <a:r>
              <a:rPr lang="en-US" dirty="0"/>
              <a:t>RQ2 (Reflection): Does LLM reflection beat raw memory writes?	</a:t>
            </a:r>
          </a:p>
          <a:p>
            <a:pPr lvl="1"/>
            <a:r>
              <a:rPr lang="en-US" dirty="0"/>
              <a:t>RQ3 (Cost-Quality): When does LLM oversight justify its latency?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2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98BB-76FC-6EA2-CB84-5C996DEAA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System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19ACB-4C8E-7367-7588-751BE95B28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err="1"/>
              <a:t>LangGraph</a:t>
            </a:r>
            <a:r>
              <a:rPr lang="en-US" b="1" dirty="0"/>
              <a:t> Agent: 7 nodes sharing an </a:t>
            </a:r>
            <a:r>
              <a:rPr lang="en-US" b="1" dirty="0" err="1"/>
              <a:t>AgentState</a:t>
            </a:r>
            <a:r>
              <a:rPr lang="en-US" b="1" dirty="0"/>
              <a:t> </a:t>
            </a:r>
            <a:r>
              <a:rPr lang="en-US" b="1" dirty="0" err="1"/>
              <a:t>TypedDict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8C5FF-FE6F-ECE1-DE6A-8346E93451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28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BA5FF-0654-9745-7854-BD9C0FB7A8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C94F2-2923-D502-55C9-924CE5BF5F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7AB239-1314-17A3-D91F-70CAAA5BD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51" y="1677797"/>
            <a:ext cx="4767975" cy="46181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7F258B-E554-1300-1B43-7BF9ADD90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526" y="1677797"/>
            <a:ext cx="6892923" cy="297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2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366EB-36C4-773E-68BF-503B33C85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How it Learns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A4592-E765-2C0D-550C-2D8F22D71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28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C81F1-7980-24D2-493E-E533173900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E8DE7-3637-031E-37E7-04D769EA02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DEE3E1-0FDA-726D-2A0D-BF83C4420C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5610" y="1053679"/>
            <a:ext cx="10287000" cy="5030786"/>
          </a:xfrm>
        </p:spPr>
        <p:txBody>
          <a:bodyPr/>
          <a:lstStyle/>
          <a:p>
            <a:r>
              <a:rPr lang="en-US" b="1" dirty="0"/>
              <a:t>Three mechanisms, three timescales:</a:t>
            </a:r>
          </a:p>
          <a:p>
            <a:pPr marL="790575" lvl="1" indent="-342900">
              <a:buFont typeface="+mj-lt"/>
              <a:buAutoNum type="arabicPeriod"/>
            </a:pPr>
            <a:r>
              <a:rPr lang="en-US" b="1" dirty="0"/>
              <a:t>Per-step uncertainty overlay</a:t>
            </a:r>
            <a:r>
              <a:rPr lang="en-US" dirty="0"/>
              <a:t> </a:t>
            </a:r>
            <a:r>
              <a:rPr lang="en-US" i="1" dirty="0"/>
              <a:t>(reactive)</a:t>
            </a:r>
            <a:br>
              <a:rPr lang="en-US" dirty="0"/>
            </a:br>
            <a:r>
              <a:rPr lang="en-US" dirty="0"/>
              <a:t>Real-time + persistent hazard map → A* cost weights.</a:t>
            </a:r>
          </a:p>
          <a:p>
            <a:pPr marL="790575" lvl="1" indent="-342900">
              <a:buFont typeface="+mj-lt"/>
              <a:buAutoNum type="arabicPeriod"/>
            </a:pPr>
            <a:r>
              <a:rPr lang="en-US" b="1" dirty="0"/>
              <a:t>Bump-and-replan</a:t>
            </a:r>
            <a:r>
              <a:rPr lang="en-US" dirty="0"/>
              <a:t> </a:t>
            </a:r>
            <a:r>
              <a:rPr lang="en-US" i="1" dirty="0"/>
              <a:t>(deliberative, within episode)</a:t>
            </a:r>
            <a:br>
              <a:rPr lang="en-US" dirty="0"/>
            </a:br>
            <a:r>
              <a:rPr lang="en-US" dirty="0"/>
              <a:t>LLM flags risky waypoints → Healer raises their cost → A* replans.</a:t>
            </a:r>
          </a:p>
          <a:p>
            <a:pPr marL="790575" lvl="1" indent="-342900">
              <a:buFont typeface="+mj-lt"/>
              <a:buAutoNum type="arabicPeriod"/>
            </a:pPr>
            <a:r>
              <a:rPr lang="en-US" b="1" dirty="0"/>
              <a:t>Reflection writes to persistent memory</a:t>
            </a:r>
            <a:r>
              <a:rPr lang="en-US" dirty="0"/>
              <a:t> </a:t>
            </a:r>
            <a:r>
              <a:rPr lang="en-US" i="1" dirty="0"/>
              <a:t>(reflective, between episodes)</a:t>
            </a:r>
            <a:br>
              <a:rPr lang="en-US" dirty="0"/>
            </a:br>
            <a:r>
              <a:rPr lang="en-US" dirty="0" err="1"/>
              <a:t>grid.hazard_map</a:t>
            </a:r>
            <a:r>
              <a:rPr lang="en-US" dirty="0"/>
              <a:t> survives </a:t>
            </a:r>
            <a:r>
              <a:rPr lang="en-US" dirty="0" err="1"/>
              <a:t>grid.reset</a:t>
            </a:r>
            <a:r>
              <a:rPr lang="en-US" dirty="0"/>
              <a:t>() — the </a:t>
            </a:r>
            <a:r>
              <a:rPr lang="en-US" i="1" dirty="0"/>
              <a:t>only</a:t>
            </a:r>
            <a:r>
              <a:rPr lang="en-US" dirty="0"/>
              <a:t> cross-episode learning signal.</a:t>
            </a:r>
          </a:p>
          <a:p>
            <a:pPr marL="790575" lvl="1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22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6446-D1CE-DC0E-B0B6-3EDA60E5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Experimental Setup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A9604-2BEB-5077-7E0E-7BD3846E60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 variants × 3 conditions × 50 sequential episodes = 600 episodes</a:t>
            </a:r>
            <a:endParaRPr lang="en-US" dirty="0"/>
          </a:p>
          <a:p>
            <a:r>
              <a:rPr lang="en-US" b="1" dirty="0"/>
              <a:t>Variants:</a:t>
            </a:r>
            <a:r>
              <a:rPr lang="en-US" dirty="0"/>
              <a:t> A*, D* Lite, Agent-</a:t>
            </a:r>
            <a:r>
              <a:rPr lang="en-US" dirty="0" err="1"/>
              <a:t>NoReflection</a:t>
            </a:r>
            <a:r>
              <a:rPr lang="en-US" dirty="0"/>
              <a:t>, </a:t>
            </a:r>
            <a:r>
              <a:rPr lang="en-US" b="1" dirty="0"/>
              <a:t>Full Agent</a:t>
            </a:r>
            <a:endParaRPr lang="en-US" dirty="0"/>
          </a:p>
          <a:p>
            <a:r>
              <a:rPr lang="en-US" b="1" dirty="0"/>
              <a:t>Conditions:</a:t>
            </a:r>
            <a:r>
              <a:rPr lang="en-US" dirty="0"/>
              <a:t> Static (15%), Dynamic-Low (15%, slow), Dynamic-High (20%, every step)</a:t>
            </a:r>
          </a:p>
          <a:p>
            <a:r>
              <a:rPr lang="en-US" b="1" dirty="0"/>
              <a:t>Grid:</a:t>
            </a:r>
            <a:r>
              <a:rPr lang="en-US" dirty="0"/>
              <a:t> 20×20, identical seeds across variants</a:t>
            </a:r>
          </a:p>
          <a:p>
            <a:r>
              <a:rPr lang="en-US" b="1" dirty="0"/>
              <a:t>LLM:</a:t>
            </a:r>
            <a:r>
              <a:rPr lang="en-US" dirty="0"/>
              <a:t> gpt-4o-mini, ~2,500 calls, ~$1 USD total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7918A-485F-BD20-D426-F8B615F897D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28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FC2CB-866F-78DC-0D36-4187AEFE4C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E183A-9F52-0048-77DC-56DA60CE98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88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6A92-4F78-E7D7-12B5-73D4B04A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2220F-D35A-DAF4-5DFA-8758BBAB3E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Success rate by variant and condition: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Key findings:</a:t>
            </a:r>
          </a:p>
          <a:p>
            <a:pPr lvl="1"/>
            <a:r>
              <a:rPr lang="en-US" dirty="0"/>
              <a:t>D* Lite wins on raw success rate.</a:t>
            </a:r>
          </a:p>
          <a:p>
            <a:pPr lvl="1"/>
            <a:r>
              <a:rPr lang="en-US" dirty="0"/>
              <a:t>Reflection adds a consistent </a:t>
            </a:r>
            <a:r>
              <a:rPr lang="en-US" b="1" dirty="0"/>
              <a:t>+2 pp</a:t>
            </a:r>
            <a:r>
              <a:rPr lang="en-US" dirty="0"/>
              <a:t> over no-reflection.</a:t>
            </a:r>
          </a:p>
          <a:p>
            <a:pPr lvl="1"/>
            <a:r>
              <a:rPr lang="en-US" dirty="0"/>
              <a:t>Learning curve: Full Agent climbs </a:t>
            </a:r>
            <a:r>
              <a:rPr lang="en-US" b="1" dirty="0"/>
              <a:t>0 → ~80%</a:t>
            </a:r>
            <a:r>
              <a:rPr lang="en-US" dirty="0"/>
              <a:t> rolling SR over first 15 episodes.</a:t>
            </a:r>
          </a:p>
          <a:p>
            <a:pPr lvl="1"/>
            <a:r>
              <a:rPr lang="en-US" dirty="0"/>
              <a:t>Full Agent is </a:t>
            </a:r>
            <a:r>
              <a:rPr lang="en-US" b="1" dirty="0"/>
              <a:t>~1,500× slower</a:t>
            </a:r>
            <a:r>
              <a:rPr lang="en-US" dirty="0"/>
              <a:t> than D* Lite per episode (18.9 s vs 13 </a:t>
            </a:r>
            <a:r>
              <a:rPr lang="en-US" dirty="0" err="1"/>
              <a:t>ms</a:t>
            </a:r>
            <a:r>
              <a:rPr lang="en-US" dirty="0"/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38A5B-67C9-BDAF-81BF-6CD61CA55C2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28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0DE8B-5894-8096-D77B-3634086148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7C6A5-9DD7-86FE-E5F5-F2BDFDB6E6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2DD78D-7B27-F936-0F8B-D14A4AA28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400" y="1307177"/>
            <a:ext cx="4875100" cy="22881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2F3D4C-DE7E-0663-F085-928B49ABA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39" y="1505857"/>
            <a:ext cx="4756161" cy="189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5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7EA7-B09E-D068-39E5-32F2821C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The Honest Tradeoff &amp;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ACB3C-8065-C64E-06B9-B912DC8E6D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What I bought for the 1,500× slowdown:</a:t>
            </a:r>
          </a:p>
          <a:p>
            <a:pPr lvl="1"/>
            <a:r>
              <a:rPr lang="en-US" dirty="0"/>
              <a:t>Per-decision natural-language risk justifications</a:t>
            </a:r>
          </a:p>
          <a:p>
            <a:pPr lvl="1"/>
            <a:r>
              <a:rPr lang="en-US" dirty="0"/>
              <a:t>End-of-episode reflective diagnoses stored to JSONL</a:t>
            </a:r>
          </a:p>
          <a:p>
            <a:pPr lvl="1"/>
            <a:r>
              <a:rPr lang="en-US" dirty="0"/>
              <a:t>A complete audit trail for every episode. </a:t>
            </a:r>
            <a:endParaRPr lang="en-US" i="1" dirty="0"/>
          </a:p>
          <a:p>
            <a:pPr lvl="1"/>
            <a:r>
              <a:rPr lang="en-US" i="1" dirty="0"/>
              <a:t>No algorithmic baseline produces this</a:t>
            </a:r>
          </a:p>
          <a:p>
            <a:pPr lvl="1"/>
            <a:endParaRPr lang="en-US" i="1" dirty="0"/>
          </a:p>
          <a:p>
            <a:r>
              <a:rPr lang="en-US" b="1" dirty="0"/>
              <a:t>Lessons learned:</a:t>
            </a:r>
            <a:endParaRPr lang="en-US" dirty="0"/>
          </a:p>
          <a:p>
            <a:pPr lvl="1"/>
            <a:r>
              <a:rPr lang="en-US" dirty="0"/>
              <a:t>Cross-episode memory works mechanically</a:t>
            </a:r>
          </a:p>
          <a:p>
            <a:pPr lvl="1"/>
            <a:r>
              <a:rPr lang="en-US" dirty="0"/>
              <a:t>Visible in the learning curve.</a:t>
            </a:r>
          </a:p>
          <a:p>
            <a:pPr lvl="1"/>
            <a:r>
              <a:rPr lang="en-US" dirty="0"/>
              <a:t>Bump-and-replan over-corrects in mild dynamics: longer paths → more exposure → more collisions.</a:t>
            </a:r>
          </a:p>
          <a:p>
            <a:pPr lvl="1"/>
            <a:r>
              <a:rPr lang="en-US" dirty="0"/>
              <a:t>Interpretability is the agent's defensible contribution, not raw success rate.</a:t>
            </a:r>
          </a:p>
          <a:p>
            <a:pPr lvl="1"/>
            <a:endParaRPr lang="en-US" dirty="0"/>
          </a:p>
          <a:p>
            <a:r>
              <a:rPr lang="en-US" b="1" dirty="0"/>
              <a:t>Future work:</a:t>
            </a:r>
            <a:r>
              <a:rPr lang="en-US" dirty="0"/>
              <a:t> graduated heal magnitudes · 50×50 grids · Agent-</a:t>
            </a:r>
            <a:r>
              <a:rPr lang="en-US" dirty="0" err="1"/>
              <a:t>NoMemory</a:t>
            </a:r>
            <a:r>
              <a:rPr lang="en-US" dirty="0"/>
              <a:t> ablation · semantic memory retrieval.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F868C-F3BF-8691-2C55-72DC6DBB6B9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28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27AAF-E720-A53D-AD51-CFAD164383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C9D6B-1B63-7B7D-A5A5-74A9A6A21B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8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C85372F-9F06-4522-97C3-90BD9647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Copyright The Johns Hopkins University 2022.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44457302"/>
      </p:ext>
    </p:extLst>
  </p:cSld>
  <p:clrMapOvr>
    <a:masterClrMapping/>
  </p:clrMapOvr>
</p:sld>
</file>

<file path=ppt/theme/theme1.xml><?xml version="1.0" encoding="utf-8"?>
<a:theme xmlns:a="http://schemas.openxmlformats.org/drawingml/2006/main" name="APL-PowerPoint-Theme_light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C73"/>
      </a:accent1>
      <a:accent2>
        <a:srgbClr val="3E8EDE"/>
      </a:accent2>
      <a:accent3>
        <a:srgbClr val="74AA50"/>
      </a:accent3>
      <a:accent4>
        <a:srgbClr val="D2D755"/>
      </a:accent4>
      <a:accent5>
        <a:srgbClr val="FF9E16"/>
      </a:accent5>
      <a:accent6>
        <a:srgbClr val="E03C30"/>
      </a:accent6>
      <a:hlink>
        <a:srgbClr val="0537FF"/>
      </a:hlink>
      <a:folHlink>
        <a:srgbClr val="953A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rmAutofit/>
      </a:bodyPr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>
          <a:defRPr sz="2000"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ded-Template_Light-Theme_16x9.potx [Read-Only]" id="{5DB539B9-6F13-4101-81B0-D918CEF93918}" vid="{E109BF72-D208-4CB8-BC31-1B8F5E6BE512}"/>
    </a:ext>
  </a:extLst>
</a:theme>
</file>

<file path=ppt/theme/theme2.xml><?xml version="1.0" encoding="utf-8"?>
<a:theme xmlns:a="http://schemas.openxmlformats.org/drawingml/2006/main" name="EP Presentation Theme - Simple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2CE"/>
      </a:accent1>
      <a:accent2>
        <a:srgbClr val="009B77"/>
      </a:accent2>
      <a:accent3>
        <a:srgbClr val="418FDE"/>
      </a:accent3>
      <a:accent4>
        <a:srgbClr val="CF4520"/>
      </a:accent4>
      <a:accent5>
        <a:srgbClr val="A15A95"/>
      </a:accent5>
      <a:accent6>
        <a:srgbClr val="F1C400"/>
      </a:accent6>
      <a:hlink>
        <a:srgbClr val="0072CE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 PowerPoint Template_10.potx" id="{17F40019-BFB7-44D3-84CE-E0F8D88E9A5B}" vid="{CF94C3F4-83D7-42AE-91B9-0002357E910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7BFD2CB1E744298C1AF8AA7379FF3" ma:contentTypeVersion="2" ma:contentTypeDescription="Create a new document." ma:contentTypeScope="" ma:versionID="7dc69b7d5cdc30166cb3b33179ded647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targetNamespace="http://schemas.microsoft.com/office/2006/metadata/properties" ma:root="true" ma:fieldsID="8b1f32b3baab200f1a8fb7d5950201f6" ns1:_="" ns2:_="">
    <xsd:import namespace="http://schemas.microsoft.com/sharepoint/v3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0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6705E72-33D2-49FE-82C1-AC4E719A71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D39467-C7FB-426B-8E69-80141231BEA1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microsoft.com/sharepoint/v4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7E9159-B4E5-458F-AE2E-4A186E1ACA1C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microsoft.com/sharepoint/v4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1258</TotalTime>
  <Words>446</Words>
  <Application>Microsoft Macintosh PowerPoint</Application>
  <PresentationFormat>Widescreen</PresentationFormat>
  <Paragraphs>68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.AppleSystemUIFont</vt:lpstr>
      <vt:lpstr>Arial</vt:lpstr>
      <vt:lpstr>Calibri</vt:lpstr>
      <vt:lpstr>Courier New</vt:lpstr>
      <vt:lpstr>Helvetica</vt:lpstr>
      <vt:lpstr>Tahoma</vt:lpstr>
      <vt:lpstr>Wingdings</vt:lpstr>
      <vt:lpstr>APL-PowerPoint-Theme_light</vt:lpstr>
      <vt:lpstr>EP Presentation Theme - Simple</vt:lpstr>
      <vt:lpstr>Agentic Strategic Oversight of Classical Pathfinding</vt:lpstr>
      <vt:lpstr>The Problem</vt:lpstr>
      <vt:lpstr>System Architecture</vt:lpstr>
      <vt:lpstr>How it Learns</vt:lpstr>
      <vt:lpstr>Experimental Setup</vt:lpstr>
      <vt:lpstr>Results</vt:lpstr>
      <vt:lpstr>The Honest Tradeoff &amp; Takeaways</vt:lpstr>
      <vt:lpstr>Copyright The Johns Hopkins University 2022. All rights reserved.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>Version 1.0</dc:description>
  <cp:lastModifiedBy>fatih karatay</cp:lastModifiedBy>
  <cp:revision>33</cp:revision>
  <cp:lastPrinted>2017-08-24T18:44:08Z</cp:lastPrinted>
  <dcterms:created xsi:type="dcterms:W3CDTF">2017-11-15T21:48:49Z</dcterms:created>
  <dcterms:modified xsi:type="dcterms:W3CDTF">2026-04-28T23:36:07Z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0x0101009757BFD2CB1E744298C1AF8AA7379FF3</vt:lpwstr>
  </property>
</Properties>
</file>